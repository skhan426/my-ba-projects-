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 Price ($)</c:v>
                </c:pt>
              </c:strCache>
            </c:strRef>
          </c:tx>
          <c:spPr>
            <a:solidFill>
              <a:srgbClr val="3B9EE8"/>
            </a:solidFill>
            <a:ln w="38100" cap="flat">
              <a:solidFill>
                <a:srgbClr val="3B9E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9EE8"/>
              </a:solidFill>
              <a:ln w="9525" cap="flat">
                <a:solidFill>
                  <a:srgbClr val="3B9E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2004</c:v>
                  </c:pt>
                  <c:pt idx="1">
                    <c:v>2005</c:v>
                  </c:pt>
                  <c:pt idx="2">
                    <c:v>2006</c:v>
                  </c:pt>
                  <c:pt idx="3">
                    <c:v>2007</c:v>
                  </c:pt>
                  <c:pt idx="4">
                    <c:v>2008</c:v>
                  </c:pt>
                  <c:pt idx="5">
                    <c:v>2009</c:v>
                  </c:pt>
                  <c:pt idx="6">
                    <c:v>2010</c:v>
                  </c:pt>
                  <c:pt idx="7">
                    <c:v>2011</c:v>
                  </c:pt>
                  <c:pt idx="8">
                    <c:v>2012</c:v>
                  </c:pt>
                  <c:pt idx="9">
                    <c:v>2013</c:v>
                  </c:pt>
                  <c:pt idx="10">
                    <c:v>2014</c:v>
                  </c:pt>
                  <c:pt idx="11">
                    <c:v>2015</c:v>
                  </c:pt>
                  <c:pt idx="12">
                    <c:v>2016</c:v>
                  </c:pt>
                  <c:pt idx="13">
                    <c:v>2017</c:v>
                  </c:pt>
                  <c:pt idx="14">
                    <c:v>2018</c:v>
                  </c:pt>
                  <c:pt idx="15">
                    <c:v>2019</c:v>
                  </c:pt>
                  <c:pt idx="16">
                    <c:v>2020</c:v>
                  </c:pt>
                  <c:pt idx="17">
                    <c:v>2021</c:v>
                  </c:pt>
                  <c:pt idx="18">
                    <c:v>2022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96</c:v>
                </c:pt>
                <c:pt idx="1">
                  <c:v>208</c:v>
                </c:pt>
                <c:pt idx="2">
                  <c:v>230</c:v>
                </c:pt>
                <c:pt idx="3">
                  <c:v>346</c:v>
                </c:pt>
                <c:pt idx="4">
                  <c:v>154</c:v>
                </c:pt>
                <c:pt idx="5">
                  <c:v>310</c:v>
                </c:pt>
                <c:pt idx="6">
                  <c:v>297</c:v>
                </c:pt>
                <c:pt idx="7">
                  <c:v>323</c:v>
                </c:pt>
                <c:pt idx="8">
                  <c:v>354</c:v>
                </c:pt>
                <c:pt idx="9">
                  <c:v>561</c:v>
                </c:pt>
                <c:pt idx="10">
                  <c:v>531</c:v>
                </c:pt>
                <c:pt idx="11">
                  <c:v>778</c:v>
                </c:pt>
                <c:pt idx="12">
                  <c:v>792</c:v>
                </c:pt>
                <c:pt idx="13">
                  <c:v>1053</c:v>
                </c:pt>
                <c:pt idx="14">
                  <c:v>1045</c:v>
                </c:pt>
                <c:pt idx="15">
                  <c:v>1339</c:v>
                </c:pt>
                <c:pt idx="16">
                  <c:v>1753</c:v>
                </c:pt>
                <c:pt idx="17">
                  <c:v>2897</c:v>
                </c:pt>
                <c:pt idx="18">
                  <c:v>2831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Return %</c:v>
                </c:pt>
              </c:strCache>
            </c:strRef>
          </c:tx>
          <c:spPr>
            <a:solidFill>
              <a:srgbClr val="0F9E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4F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4F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94F3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D94F3D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0F9E7B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D94F3D"/>
              </a:solidFill>
              <a:effectLst/>
            </c:spPr>
          </c:dPt>
          <c:cat>
            <c:multiLvlStrRef>
              <c:f>Sheet1!$A$2:$A$20</c:f>
              <c:multiLvlStrCache>
                <c:ptCount val="19"/>
                <c:lvl>
                  <c:pt idx="0">
                    <c:v>2004</c:v>
                  </c:pt>
                  <c:pt idx="1">
                    <c:v>2005</c:v>
                  </c:pt>
                  <c:pt idx="2">
                    <c:v>2006</c:v>
                  </c:pt>
                  <c:pt idx="3">
                    <c:v>2007</c:v>
                  </c:pt>
                  <c:pt idx="4">
                    <c:v>2008</c:v>
                  </c:pt>
                  <c:pt idx="5">
                    <c:v>2009</c:v>
                  </c:pt>
                  <c:pt idx="6">
                    <c:v>2010</c:v>
                  </c:pt>
                  <c:pt idx="7">
                    <c:v>2011</c:v>
                  </c:pt>
                  <c:pt idx="8">
                    <c:v>2012</c:v>
                  </c:pt>
                  <c:pt idx="9">
                    <c:v>2013</c:v>
                  </c:pt>
                  <c:pt idx="10">
                    <c:v>2014</c:v>
                  </c:pt>
                  <c:pt idx="11">
                    <c:v>2015</c:v>
                  </c:pt>
                  <c:pt idx="12">
                    <c:v>2016</c:v>
                  </c:pt>
                  <c:pt idx="13">
                    <c:v>2017</c:v>
                  </c:pt>
                  <c:pt idx="14">
                    <c:v>2018</c:v>
                  </c:pt>
                  <c:pt idx="15">
                    <c:v>2019</c:v>
                  </c:pt>
                  <c:pt idx="16">
                    <c:v>2020</c:v>
                  </c:pt>
                  <c:pt idx="17">
                    <c:v>2021</c:v>
                  </c:pt>
                  <c:pt idx="18">
                    <c:v>2022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92.8</c:v>
                </c:pt>
                <c:pt idx="1">
                  <c:v>110.2</c:v>
                </c:pt>
                <c:pt idx="2">
                  <c:v>9</c:v>
                </c:pt>
                <c:pt idx="3">
                  <c:v>48.4</c:v>
                </c:pt>
                <c:pt idx="4">
                  <c:v>-55.6</c:v>
                </c:pt>
                <c:pt idx="5">
                  <c:v>100.9</c:v>
                </c:pt>
                <c:pt idx="6">
                  <c:v>-5.3</c:v>
                </c:pt>
                <c:pt idx="7">
                  <c:v>8.3</c:v>
                </c:pt>
                <c:pt idx="8">
                  <c:v>8.3</c:v>
                </c:pt>
                <c:pt idx="9">
                  <c:v>55.8</c:v>
                </c:pt>
                <c:pt idx="10">
                  <c:v>-4.9</c:v>
                </c:pt>
                <c:pt idx="11">
                  <c:v>46.1</c:v>
                </c:pt>
                <c:pt idx="12">
                  <c:v>4</c:v>
                </c:pt>
                <c:pt idx="13">
                  <c:v>31.6</c:v>
                </c:pt>
                <c:pt idx="14">
                  <c:v>-0.8</c:v>
                </c:pt>
                <c:pt idx="15">
                  <c:v>30.4</c:v>
                </c:pt>
                <c:pt idx="16">
                  <c:v>30</c:v>
                </c:pt>
                <c:pt idx="17">
                  <c:v>64.6</c:v>
                </c:pt>
                <c:pt idx="18">
                  <c:v>-2.4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Volume (M)</c:v>
                </c:pt>
              </c:strCache>
            </c:strRef>
          </c:tx>
          <c:spPr>
            <a:solidFill>
              <a:srgbClr val="1A4E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2004</c:v>
                  </c:pt>
                  <c:pt idx="1">
                    <c:v>2005</c:v>
                  </c:pt>
                  <c:pt idx="2">
                    <c:v>2006</c:v>
                  </c:pt>
                  <c:pt idx="3">
                    <c:v>2007</c:v>
                  </c:pt>
                  <c:pt idx="4">
                    <c:v>2008</c:v>
                  </c:pt>
                  <c:pt idx="5">
                    <c:v>2009</c:v>
                  </c:pt>
                  <c:pt idx="6">
                    <c:v>2010</c:v>
                  </c:pt>
                  <c:pt idx="7">
                    <c:v>2011</c:v>
                  </c:pt>
                  <c:pt idx="8">
                    <c:v>2012</c:v>
                  </c:pt>
                  <c:pt idx="9">
                    <c:v>2013</c:v>
                  </c:pt>
                  <c:pt idx="10">
                    <c:v>2014</c:v>
                  </c:pt>
                  <c:pt idx="11">
                    <c:v>2015</c:v>
                  </c:pt>
                  <c:pt idx="12">
                    <c:v>2016</c:v>
                  </c:pt>
                  <c:pt idx="13">
                    <c:v>2017</c:v>
                  </c:pt>
                  <c:pt idx="14">
                    <c:v>2018</c:v>
                  </c:pt>
                  <c:pt idx="15">
                    <c:v>2019</c:v>
                  </c:pt>
                  <c:pt idx="16">
                    <c:v>2020</c:v>
                  </c:pt>
                  <c:pt idx="17">
                    <c:v>2021</c:v>
                  </c:pt>
                  <c:pt idx="18">
                    <c:v>2022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18.1</c:v>
                </c:pt>
                <c:pt idx="1">
                  <c:v>21.4</c:v>
                </c:pt>
                <c:pt idx="2">
                  <c:v>17</c:v>
                </c:pt>
                <c:pt idx="3">
                  <c:v>10.9</c:v>
                </c:pt>
                <c:pt idx="4">
                  <c:v>12.6</c:v>
                </c:pt>
                <c:pt idx="5">
                  <c:v>7</c:v>
                </c:pt>
                <c:pt idx="6">
                  <c:v>6.4</c:v>
                </c:pt>
                <c:pt idx="7">
                  <c:v>6.2</c:v>
                </c:pt>
                <c:pt idx="8">
                  <c:v>5.2</c:v>
                </c:pt>
                <c:pt idx="9">
                  <c:v>4.2</c:v>
                </c:pt>
                <c:pt idx="10">
                  <c:v>2.7</c:v>
                </c:pt>
                <c:pt idx="11">
                  <c:v>2.2</c:v>
                </c:pt>
                <c:pt idx="12">
                  <c:v>2</c:v>
                </c:pt>
                <c:pt idx="13">
                  <c:v>1.6</c:v>
                </c:pt>
                <c:pt idx="14">
                  <c:v>2</c:v>
                </c:pt>
                <c:pt idx="15">
                  <c:v>1.5</c:v>
                </c:pt>
                <c:pt idx="16">
                  <c:v>2</c:v>
                </c:pt>
                <c:pt idx="17">
                  <c:v>1.5</c:v>
                </c:pt>
                <c:pt idx="18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D1B3E"/>
                </a:solidFill>
                <a:latin typeface="Arial"/>
              </a:defRPr>
            </a:pPr>
            <a:r>
              <a:rPr sz="1300" b="1" i="0" u="none" strike="noStrike">
                <a:solidFill>
                  <a:srgbClr val="0D1B3E"/>
                </a:solidFill>
                <a:latin typeface="Arial"/>
              </a:rPr>
              <a:t>Trading day outcomes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9E7B"/>
              </a:solidFill>
              <a:effectLst/>
            </c:spPr>
          </c:dPt>
          <c:dPt>
            <c:idx val="1"/>
            <c:bubble3D val="0"/>
            <c:spPr>
              <a:solidFill>
                <a:srgbClr val="D94F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Positive days (54%)</c:v>
                </c:pt>
                <c:pt idx="1">
                  <c:v>Negative days (46%)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2390</c:v>
                </c:pt>
                <c:pt idx="1">
                  <c:v>2041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640080"/>
            <a:ext cx="1280160" cy="384048"/>
          </a:xfrm>
          <a:prstGeom prst="rect">
            <a:avLst>
              <a:gd name="adj" fmla="val 11905"/>
            </a:avLst>
          </a:prstGeom>
          <a:solidFill>
            <a:srgbClr val="3B9EE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GOOGL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Performance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2004 – March 2022  ·  18 Years of Data  ·  4,431 Trading Days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703320"/>
            <a:ext cx="1920240" cy="1005840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$50.22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703320"/>
            <a:ext cx="1920240" cy="1005840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$2,831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703320"/>
            <a:ext cx="1920240" cy="1005840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+5,538%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060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3703320"/>
            <a:ext cx="1920240" cy="1005840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$3,031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9440" y="42245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06040" cy="1572768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88720"/>
            <a:ext cx="64008" cy="157276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898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+5,538%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over 18 years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188720"/>
            <a:ext cx="2606040" cy="1572768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9" name="Shape 7"/>
          <p:cNvSpPr/>
          <p:nvPr/>
        </p:nvSpPr>
        <p:spPr>
          <a:xfrm>
            <a:off x="3154680" y="1188720"/>
            <a:ext cx="64008" cy="157276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3898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$3,031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 (Feb 2, 2022)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188720"/>
            <a:ext cx="2606040" cy="1572768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89320" y="1188720"/>
            <a:ext cx="64008" cy="157276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3898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2057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year return (2008)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606040" cy="1572768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971800"/>
            <a:ext cx="64008" cy="157276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1729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year return (2005)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2606040" cy="1572768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154680" y="2971800"/>
            <a:ext cx="64008" cy="157276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1729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37560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volume (shares)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89320" y="2971800"/>
            <a:ext cx="2606040" cy="1572768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89320" y="2971800"/>
            <a:ext cx="64008" cy="157276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17296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3840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volatility (std dev)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— Monthly Close (2004–2022)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Returns (%) — 2004 to 2022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143000"/>
            <a:ext cx="146304" cy="146304"/>
          </a:xfrm>
          <a:prstGeom prst="rect">
            <a:avLst/>
          </a:prstGeom>
          <a:solidFill>
            <a:srgbClr val="0F9E7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155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Positive year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498080" y="1143000"/>
            <a:ext cx="146304" cy="146304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11155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Negative year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Volume — Declining as Price Rose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dropped ~91% from peak (2005: 21.4M) to trough (2017: 1.6M) as share price rose from ~$100 to $1,000+. Fewer shares traded at higher prices.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Events &amp; Milestones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114300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64008" cy="1143000"/>
          </a:xfrm>
          <a:prstGeom prst="rect">
            <a:avLst/>
          </a:prstGeom>
          <a:solidFill>
            <a:srgbClr val="0F9E7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72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goes public at $85/share ($50.22 split-adjusted). Raises $1.67B.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60520" cy="114300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143000"/>
            <a:ext cx="64008" cy="1143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472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Crisis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7190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crashes −56%. Worst year in GOOGL history. Recovered fully by 2009.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441448"/>
            <a:ext cx="4160520" cy="114300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441448"/>
            <a:ext cx="64008" cy="1143000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32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70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Formed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restructures under Alphabet Inc. Stock jumps +18% in one month.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441448"/>
            <a:ext cx="4160520" cy="114300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441448"/>
            <a:ext cx="64008" cy="1143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532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770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Crash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0175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single day: −11.6% on Mar 16, 2020. Recovered within months.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739896"/>
            <a:ext cx="4160520" cy="114300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3739896"/>
            <a:ext cx="64008" cy="1143000"/>
          </a:xfrm>
          <a:prstGeom prst="rect">
            <a:avLst/>
          </a:prstGeom>
          <a:solidFill>
            <a:srgbClr val="0F9E7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8313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Year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3159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 gains +64.6%, driven by ad revenue boom and cloud growth.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739896"/>
            <a:ext cx="4160520" cy="114300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3739896"/>
            <a:ext cx="64008" cy="1143000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8313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43159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at $3,030.93 — the peak of the dataset. +5,538% from IPO.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&amp; Risk Profile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31920" cy="50292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volatility (σ)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143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46504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465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return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74650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50008"/>
            <a:ext cx="3931920" cy="50292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500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+19.99%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953512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535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single day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9535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−11.63%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557016"/>
            <a:ext cx="3931920" cy="502920"/>
          </a:xfrm>
          <a:prstGeom prst="rect">
            <a:avLst/>
          </a:prstGeom>
          <a:solidFill>
            <a:srgbClr val="E8E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5701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day date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55701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18, 2008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16052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0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single day date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4160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16, 2020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0" y="100584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5047488"/>
            <a:ext cx="8979408" cy="91440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75488" cy="47548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1612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long-term compounder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173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at IPO → $56,380 by March 2022, a 5,538% total return over 18 years.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475488" cy="47548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09397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through crises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3500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2008 crash (−56%) was fully recovered by 2009 (+101%), showing the business's durability.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08376"/>
            <a:ext cx="475488" cy="47548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08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0266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inversely tracks price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28269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price grew 56×, daily share volume fell ~91%, a hallmark of rising institutional ownership.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941064"/>
            <a:ext cx="475488" cy="475488"/>
          </a:xfrm>
          <a:prstGeom prst="rect">
            <a:avLst/>
          </a:prstGeom>
          <a:solidFill>
            <a:srgbClr val="3B9E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95935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daily risk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421538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σ of 1.91% with 54% positive days — rewarding for patient, long-term holders.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 Stock Analysis 2004–2022</dc:title>
  <dc:subject>PptxGenJS Presentation</dc:subject>
  <dc:creator>PptxGenJS</dc:creator>
  <cp:lastModifiedBy>PptxGenJS</cp:lastModifiedBy>
  <cp:revision>1</cp:revision>
  <dcterms:created xsi:type="dcterms:W3CDTF">2026-05-10T22:26:44Z</dcterms:created>
  <dcterms:modified xsi:type="dcterms:W3CDTF">2026-05-10T22:26:44Z</dcterms:modified>
</cp:coreProperties>
</file>